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68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50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96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2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1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90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31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3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6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20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325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694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262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686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90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250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53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F900AA5-A040-4098-9658-6101980C252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AC6954-68CC-4810-8DFD-16B89AA30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212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1EEF01-4D56-F980-B539-9038310E8CE7}"/>
              </a:ext>
            </a:extLst>
          </p:cNvPr>
          <p:cNvSpPr txBox="1"/>
          <p:nvPr/>
        </p:nvSpPr>
        <p:spPr>
          <a:xfrm>
            <a:off x="2519792" y="2705725"/>
            <a:ext cx="71524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CUSTOMER BOOKING PREDICTIONS</a:t>
            </a:r>
          </a:p>
        </p:txBody>
      </p:sp>
      <p:pic>
        <p:nvPicPr>
          <p:cNvPr id="1028" name="Picture 4" descr="British Airways Icon logo transparent PNG - StickPNG">
            <a:extLst>
              <a:ext uri="{FF2B5EF4-FFF2-40B4-BE49-F238E27FC236}">
                <a16:creationId xmlns:a16="http://schemas.microsoft.com/office/drawing/2014/main" id="{47E13C71-2BE4-A129-7244-A9383ABF5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881" l="1667" r="96000">
                        <a14:foregroundMark x1="8667" y1="34524" x2="8667" y2="34524"/>
                        <a14:foregroundMark x1="92333" y1="41071" x2="92333" y2="41071"/>
                        <a14:foregroundMark x1="91000" y1="54167" x2="91000" y2="54167"/>
                        <a14:foregroundMark x1="79718" y1="70238" x2="79333" y2="70833"/>
                        <a14:foregroundMark x1="91667" y1="51786" x2="79718" y2="70238"/>
                        <a14:foregroundMark x1="96000" y1="43452" x2="96000" y2="59524"/>
                        <a14:foregroundMark x1="4667" y1="33929" x2="1855" y2="33370"/>
                        <a14:foregroundMark x1="79333" y1="69643" x2="79333" y2="69643"/>
                        <a14:foregroundMark x1="79333" y1="69643" x2="79333" y2="69643"/>
                        <a14:foregroundMark x1="79333" y1="69643" x2="78667" y2="69643"/>
                        <a14:backgroundMark x1="2000" y1="32738" x2="2000" y2="32738"/>
                        <a14:backgroundMark x1="2000" y1="33929" x2="1000" y2="32738"/>
                        <a14:backgroundMark x1="3667" y1="35714" x2="3667" y2="35714"/>
                        <a14:backgroundMark x1="3000" y1="33929" x2="3000" y2="33929"/>
                        <a14:backgroundMark x1="78667" y1="71429" x2="78667" y2="71429"/>
                        <a14:backgroundMark x1="95667" y1="60714" x2="95667" y2="60714"/>
                        <a14:backgroundMark x1="96000" y1="60119" x2="96667" y2="60119"/>
                        <a14:backgroundMark x1="96667" y1="42262" x2="96667" y2="422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467" y="1709845"/>
            <a:ext cx="3937376" cy="220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68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lumMod val="60000"/>
                <a:lumOff val="40000"/>
              </a:schemeClr>
            </a:gs>
            <a:gs pos="68000">
              <a:schemeClr val="tx1"/>
            </a:gs>
            <a:gs pos="100000">
              <a:schemeClr val="bg2">
                <a:lumMod val="40000"/>
                <a:lumOff val="6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FA4DB-B6AF-A741-8C7A-92043099B463}"/>
              </a:ext>
            </a:extLst>
          </p:cNvPr>
          <p:cNvSpPr txBox="1"/>
          <p:nvPr/>
        </p:nvSpPr>
        <p:spPr>
          <a:xfrm>
            <a:off x="349779" y="507777"/>
            <a:ext cx="4793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INFLUENCES A CUSTOMER’S DECISION TO BOOK?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6FBE15-934F-1644-187E-C8123AE2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6"/>
          <a:stretch>
            <a:fillRect/>
          </a:stretch>
        </p:blipFill>
        <p:spPr>
          <a:xfrm>
            <a:off x="6095999" y="507777"/>
            <a:ext cx="5915905" cy="36996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B8652E-D41C-020F-CCF2-69E5BD15092F}"/>
              </a:ext>
            </a:extLst>
          </p:cNvPr>
          <p:cNvSpPr txBox="1"/>
          <p:nvPr/>
        </p:nvSpPr>
        <p:spPr>
          <a:xfrm>
            <a:off x="349777" y="1236593"/>
            <a:ext cx="57462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influential variable in our predictive model is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purchase_lead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representing how early customers plan their travel. Travel characteristics such as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length_of_stay, flight_duration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(haul type), and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 region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(booking_origin in dataset) like South-East Aisa (Malaysia, Singapore, Indonesia, Thailand, Vietnam) and Oceania (Australia, New-Zealand) also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significantly influence booking behavior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Customers selecting add-ons (meals, baggage, seat preferences) demonstrate higher engagement and booking likelihood.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61E9B-F224-B1C6-95B2-F9AADC9E7945}"/>
              </a:ext>
            </a:extLst>
          </p:cNvPr>
          <p:cNvSpPr txBox="1"/>
          <p:nvPr/>
        </p:nvSpPr>
        <p:spPr>
          <a:xfrm>
            <a:off x="349778" y="3134960"/>
            <a:ext cx="1650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5459E-6A75-DD9D-4403-27420762CEBD}"/>
              </a:ext>
            </a:extLst>
          </p:cNvPr>
          <p:cNvSpPr txBox="1"/>
          <p:nvPr/>
        </p:nvSpPr>
        <p:spPr>
          <a:xfrm>
            <a:off x="349777" y="3586777"/>
            <a:ext cx="574622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ROC-AUC: 0.76 (strong separation between buyers and non-buyers, so we can save resource on promotions).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(Threshold = 0.4): 61%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correctly identifies 61% of actual buyers, reducing missed revenue opportunities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Precision: 31%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Approximately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in three targeted customers is likely to convert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supporting efficient marketing outreach.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Stratified Cross-Validation Mean AUC: 0.756 ± 0.004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consistent and stable model performance across multiple data splits.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28D83-0A97-4DAA-166F-04118F4B878C}"/>
              </a:ext>
            </a:extLst>
          </p:cNvPr>
          <p:cNvSpPr txBox="1"/>
          <p:nvPr/>
        </p:nvSpPr>
        <p:spPr>
          <a:xfrm>
            <a:off x="6095999" y="4461033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solidFill>
                  <a:schemeClr val="bg2"/>
                </a:solidFill>
              </a:rPr>
              <a:t>RESULTS </a:t>
            </a:r>
            <a:r>
              <a:rPr lang="en-IN" b="1" u="sng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IN" b="1" u="sng" dirty="0">
                <a:solidFill>
                  <a:schemeClr val="bg2"/>
                </a:solidFill>
              </a:rPr>
              <a:t> PREDICTION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DE534C-4500-3E5B-978F-48F4A4EE627E}"/>
              </a:ext>
            </a:extLst>
          </p:cNvPr>
          <p:cNvSpPr txBox="1"/>
          <p:nvPr/>
        </p:nvSpPr>
        <p:spPr>
          <a:xfrm>
            <a:off x="6095999" y="4879439"/>
            <a:ext cx="52120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can serve as a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decision-support tool to prioritize high-intent customers, improve campaign targeting efficiency, and increase conversion rates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Future improvements may include incorporating loyalty data and customer browsing behavior.</a:t>
            </a:r>
          </a:p>
        </p:txBody>
      </p:sp>
    </p:spTree>
    <p:extLst>
      <p:ext uri="{BB962C8B-B14F-4D97-AF65-F5344CB8AC3E}">
        <p14:creationId xmlns:p14="http://schemas.microsoft.com/office/powerpoint/2010/main" val="424342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1280</TotalTime>
  <Words>225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Slice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Gupta</dc:creator>
  <cp:lastModifiedBy>Vivek Gupta</cp:lastModifiedBy>
  <cp:revision>2</cp:revision>
  <dcterms:created xsi:type="dcterms:W3CDTF">2026-02-12T17:42:36Z</dcterms:created>
  <dcterms:modified xsi:type="dcterms:W3CDTF">2026-02-13T15:05:22Z</dcterms:modified>
</cp:coreProperties>
</file>